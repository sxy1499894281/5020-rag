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F13C53-D2E9-42A0-A27D-762597F7A797}">
  <a:tblStyle styleId="{8EF13C53-D2E9-42A0-A27D-762597F7A7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39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3725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3375" y="1827014"/>
            <a:ext cx="6440805" cy="1386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基于 arXiv 摘要的多策略增强 RAG 学术问答系统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14575" y="3309044"/>
            <a:ext cx="21717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课程报告 | 姓名 / 学号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3375" y="4150965"/>
            <a:ext cx="552063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构建一个能理解论文摘要的问答系统，并通过多种检索与控制策略提升效果、速度和可解释性。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190750" y="197018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3C5FD"/>
                </a:solidFill>
                <a:latin typeface="Lato"/>
                <a:ea typeface="Lato"/>
                <a:cs typeface="Lato"/>
                <a:sym typeface="Lato"/>
              </a:rPr>
              <a:t>课程主题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面向特定领域问答的检索增强生成（RAG）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190750" y="254347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3C5FD"/>
                </a:solidFill>
                <a:latin typeface="Lato"/>
                <a:ea typeface="Lato"/>
                <a:cs typeface="Lato"/>
                <a:sym typeface="Lato"/>
              </a:rPr>
              <a:t>领域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学术论文，数据来源是 arXiv 摘要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190750" y="311675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3C5FD"/>
                </a:solidFill>
                <a:latin typeface="Lato"/>
                <a:ea typeface="Lato"/>
                <a:cs typeface="Lato"/>
                <a:sym typeface="Lato"/>
              </a:rPr>
              <a:t>任务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对比 BM25 与稠密检索，并与大语言模型结合完成问答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190750" y="3728144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3C5FD"/>
                </a:solidFill>
                <a:latin typeface="Lato"/>
                <a:ea typeface="Lato"/>
                <a:cs typeface="Lato"/>
                <a:sym typeface="Lato"/>
              </a:rPr>
              <a:t>项目目标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1781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59109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316438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373766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2352675" y="416903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857500" y="4168080"/>
            <a:ext cx="7524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从 4.6GB 原始数据构建完整 RAG 系统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352675" y="474231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857500" y="4741366"/>
            <a:ext cx="7524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在此基础上设计 6 个检索/控制增强策略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2352675" y="53156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2857500" y="5314652"/>
            <a:ext cx="7524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在准确率、召回率、延迟和可解释性上系统评估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任务背景与项目目标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8593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17859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离线流程 (Offline)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909714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在线流程 (Online)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7954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数据与系统整体架构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6934"/>
            <a:ext cx="5286375" cy="4044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06934"/>
            <a:ext cx="5286375" cy="4044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962025" y="2297459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问题 (Problem)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62025" y="2926109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Hybrid 检索需要一个 α 来加权 BM25 和 Dense 分数。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2025" y="3371850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固定的 α 无法兼顾“术语型问题”（高 BM25 权重）和“语义型问题”（高 Dense 权重）。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24650" y="2297459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方法 (Method)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24650" y="2926109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heuristics.classify_query(q)：提取查询长度、数字/符号比例等特征。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24650" y="3655665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将 Query 粗分为 term / semantic / mixed 三类。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24650" y="4110930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按类型给出建议的 α：例如 0.2 (语义) / 0.8 (术语) / 0.5 (混合)。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24650" y="4830960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retrieve_enhanced(..., use_dynamic_alpha=True) 自动接入。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6413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6413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关键方法 1：动态混合权重（自适应 α）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6934"/>
            <a:ext cx="5286375" cy="4044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06934"/>
            <a:ext cx="5286375" cy="4044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62025" y="2297459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问题 (Problem)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2926109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初排 (BM25/Dense) 返回的 Top-k 结果质量直接影响 RAG 的最终答案。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3646140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Bi-Encoder 模型（用于 Dense 检索）适合“广撒网”，但前几名的排序未必是最佳的。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24650" y="2297459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方法 (Method)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24650" y="2926109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使用 Cross-Encoder（如 bge-reranker-base）对初排的 Top-N 结果进行“精排”。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724650" y="365566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Cross-Encoder 会同时考虑 Query 和 Document，打分更准，但速度较慢。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24650" y="4375695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接口: reranker.rerank(query, docs, ...)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24650" y="4830960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在 retrieve_enhanced 中，当 enable_rerank=True 时自动调用。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6413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36413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关键方法 2：跨编码器重排（Rerank）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1712"/>
            <a:ext cx="5286375" cy="3314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71712"/>
            <a:ext cx="5286375" cy="33145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962025" y="26622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问题 (Problem)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62025" y="3290887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用户提问可能过于简短或模糊（例如，只用一个缩写词）。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62025" y="3736627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直接使用原始查询进行检索，容易导致召回不足或召回不准。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24650" y="26622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方法 (Method)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24650" y="3290887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PRF (伪相关反馈)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用原始 query 检索一次，从 Top-M 文档中抽取高频关键词，扩展 query。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24650" y="4010917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LLM 改写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利用 LLMClient 生成若干语义等价或更具体的问法。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24650" y="4740473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expand_query 输出多个 query 变体，并行检索后合并去重。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289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728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关键方法 3：查询扩展 (PRF + LLM 改写)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34516"/>
            <a:ext cx="5286375" cy="5589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134516"/>
            <a:ext cx="5286375" cy="5589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962025" y="152504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方法 (Method)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62025" y="2153691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原始摘要长且冗余，难以明确答案依据，也增加了 LLM 处理负担。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62025" y="2873722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snippets.sentence_split 按句切分 title+abstract。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62025" y="3328987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score_sentences 用关键词或嵌入相似度为句子打分。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62025" y="3784252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select_evidence_for_docs 从每篇文档选 Top 句作为 evidence。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4513808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RAG 使用 build_context_with_evidence 构造更精简的上下文。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24650" y="1525041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示例输出 (Example)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24650" y="2153691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在最终答案中，明确列出证据来源：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591716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591716"/>
            <a:ext cx="27622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134391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关键方法 4：证据片段高亮 (句级 Evidence)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7951"/>
            <a:ext cx="5286375" cy="4442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07951"/>
            <a:ext cx="5286375" cy="44422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62025" y="2098476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类别感知检索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62025" y="2727126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问题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arXiv 语料库跨学科，易引入 off-topic 命中（如问 CS 答物理）。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62025" y="3447157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方法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724650" y="2098476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SLA 驱动策略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24650" y="2727126"/>
            <a:ext cx="45053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定义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latency_budget_ms (延迟预算)，即系统必须在多长时间内返回答案。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24650" y="3456682"/>
            <a:ext cx="45053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方法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choose_strategy 根据预算返回不同策略组合：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16515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1057275" y="38919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52525" y="3892897"/>
            <a:ext cx="4314825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利用 arXiv categories 字段。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057275" y="43186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52525" y="4319587"/>
            <a:ext cx="431482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predict_query_category 粗略预测 query 所属学科前缀 (如 cs.*)。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057275" y="50291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152525" y="5030092"/>
            <a:ext cx="431482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_apply_category_logic：过滤不在允许前缀中的文档，或对匹配学科的文档做分数加权。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165151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6819900" y="39109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915150" y="3911947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紧 (e.g., &lt; 300ms)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只用 BM25。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819900" y="43281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915150" y="4329112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中 (e.g., &lt; 800ms)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Hybrid (固定α) + 部分扩展。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819900" y="47453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915150" y="4746277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宽 (e.g., &gt; 1s)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Hybrid (动态α) + Rerank + 扩展 + Evidence。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方法 5 &amp; 6：类别感知与 SLA 策略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1"/>
          <p:cNvGraphicFramePr/>
          <p:nvPr/>
        </p:nvGraphicFramePr>
        <p:xfrm>
          <a:off x="571500" y="18317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{8EF13C53-D2E9-42A0-A27D-762597F7A797}</a:tableStyleId>
              </a:tblPr>
              <a:tblGrid>
                <a:gridCol w="2090000"/>
                <a:gridCol w="1547675"/>
                <a:gridCol w="994175"/>
                <a:gridCol w="1897850"/>
                <a:gridCol w="2406250"/>
                <a:gridCol w="2113050"/>
              </a:tblGrid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Setting (配置)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Recall@5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MRR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Search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End-to-End (ms)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93C5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Note (备注)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 Hybrid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xx.x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xx.x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无增强模块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Dynamic 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自适应 Hybrid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Rerank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排序质量提升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QE (PRF)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↑↑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↑↑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Recall@10 提升明显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Evidence Snippets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↓/≈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可解释性大幅提高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+ Category + SLA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0.xx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满足预算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Off-topic 减少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21"/>
          <p:cNvSpPr/>
          <p:nvPr/>
        </p:nvSpPr>
        <p:spPr>
          <a:xfrm>
            <a:off x="571500" y="2444204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661493" y="2444204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209157" y="2444204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203328" y="2444204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101185" y="2444204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9507438" y="2444204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71500" y="3040409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661493" y="3040409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209157" y="3040409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203328" y="3040409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7101185" y="3040409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9507438" y="3040409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3636615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661493" y="3636615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209157" y="3636615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203328" y="3636615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7101185" y="3636615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9507438" y="3636615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571500" y="4232820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661493" y="4232820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4209157" y="4232820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203328" y="4232820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7101185" y="4232820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9507438" y="4232820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4829026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661493" y="4829026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209157" y="4829026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203328" y="4829026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101185" y="4829026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9507438" y="4829026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71500" y="5425231"/>
            <a:ext cx="20899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2661493" y="5425231"/>
            <a:ext cx="15476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209157" y="5425231"/>
            <a:ext cx="9941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203328" y="5425231"/>
            <a:ext cx="1897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7101185" y="5425231"/>
            <a:ext cx="24062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9507438" y="5425231"/>
            <a:ext cx="211306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实验与消融结果 (关键表格)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6004"/>
            <a:ext cx="3429000" cy="464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06004"/>
            <a:ext cx="3429000" cy="4646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06004"/>
            <a:ext cx="3429000" cy="464611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1725930" y="2615654"/>
            <a:ext cx="11201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工程亮点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66775" y="3310979"/>
            <a:ext cx="2838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从 4.6GB 原始数据到可运行 RAG 系统的完整工程链路。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6775" y="4103340"/>
            <a:ext cx="2838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Config 驱动的模块化设计，所有策略均可通过配置开关控制。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5395912" y="2615654"/>
            <a:ext cx="1400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文档与复现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4676775" y="3310979"/>
            <a:ext cx="283845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code4.md + test4 提供了新手可复现的实现和测试指南。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676775" y="4122390"/>
            <a:ext cx="2838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强调了从数据预处理、索引构建到评测的完整闭环。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205912" y="2615654"/>
            <a:ext cx="1400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总结与展望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8486775" y="3310979"/>
            <a:ext cx="2838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总结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 自适应检索、排序与解释增强、工程可控性。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734550" y="4103340"/>
            <a:ext cx="3429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展望</a:t>
            </a: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pic>
        <p:nvPicPr>
          <p:cNvPr descr="image.png" id="278" name="Google Shape;27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192032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192032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192032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8624887" y="459477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739187" y="4594770"/>
            <a:ext cx="2524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更强的 Embedding 和重排模型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8624887" y="489957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8739187" y="4899570"/>
            <a:ext cx="2524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更严谨的人工评测数据集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624887" y="520437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739187" y="5204370"/>
            <a:ext cx="2524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简单 Web Demo 展示策略开关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工程实践 &amp; 总结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/>
          <p:nvPr/>
        </p:nvSpPr>
        <p:spPr>
          <a:xfrm>
            <a:off x="2738437" y="3924300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4" name="Google Shape;2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8437" y="3298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3833812" y="3291929"/>
            <a:ext cx="5619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https://d3lkc3n5th01x7.cloudfront.net/wp-content/uploads/2024/08/26051537/Advanced-RAG.png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833812" y="3537644"/>
            <a:ext cx="5619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www.leewayhertz.com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8437" y="40832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3833812" y="4076700"/>
            <a:ext cx="56197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https://developer-blogs.nvidia.com/wp-content/uploads/2023/12/rag-pipeline-ingest-query-flow-b.png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3833812" y="4322415"/>
            <a:ext cx="5619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developer.nvidia.com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E0F2FE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